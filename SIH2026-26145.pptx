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80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872" y="1841500"/>
            <a:ext cx="6497119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SIH26145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dirty="0"/>
              <a:t> </a:t>
            </a:r>
            <a:r>
              <a:rPr lang="en-IN" sz="2400" dirty="0"/>
              <a:t>AI-Based Detection of Cyber Threats in Unidirectional IP Traffic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/>
              <a:t>Blockchain &amp; Cybersecurity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SIH26-NIET-1886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MotionMatrix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2066994"/>
            <a:ext cx="11534592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Detailed Solution:</a:t>
            </a:r>
            <a:r>
              <a:rPr lang="en-IN" sz="2000" dirty="0"/>
              <a:t> A near real-time streaming ML pipeline that ingests unidirectional IP traffic (</a:t>
            </a:r>
            <a:r>
              <a:rPr lang="en-IN" sz="2000" dirty="0" err="1"/>
              <a:t>pcaps</a:t>
            </a:r>
            <a:r>
              <a:rPr lang="en-IN" sz="2000" dirty="0"/>
              <a:t>, NetFlow, </a:t>
            </a:r>
            <a:r>
              <a:rPr lang="en-IN" sz="2000" dirty="0" err="1"/>
              <a:t>sFlow</a:t>
            </a:r>
            <a:r>
              <a:rPr lang="en-IN" sz="2000" dirty="0"/>
              <a:t>) and dynamically detects and scores cyber threats.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Problem Addressed:</a:t>
            </a:r>
            <a:r>
              <a:rPr lang="en-IN" sz="2000" dirty="0"/>
              <a:t> Allows for high-speed, continuous threat hunting without risking network downtime, risking payload privacy, or requiring return-path communications.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Uniqueness &amp; Innovation:</a:t>
            </a:r>
            <a:endParaRPr lang="en-IN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Strict Unidirectional limits: Absolutely no return path, control plane, or handshake completions are executed.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Privacy-preserving AI: Completely circumvents payload decryption (DPI) by classifying traffic using metadata (e.g., JA3/JA4 fingerprints, sliding-window statistical flow, packet entropy).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/>
              <a:t>Evaluated Performance: Capable of 10,000+ flows per second processing purely on commodity hardware.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8BA856-6E54-2255-0494-19A8DA1F5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3587"/>
            <a:ext cx="1738999" cy="779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2400" y="1354984"/>
            <a:ext cx="11877536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Core Technologies Used:</a:t>
            </a: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Languages: Python, C/C++ (</a:t>
            </a:r>
            <a:r>
              <a:rPr lang="en-IN" sz="2400" dirty="0" err="1"/>
              <a:t>scapy</a:t>
            </a:r>
            <a:r>
              <a:rPr lang="en-IN" sz="2400" dirty="0"/>
              <a:t>/</a:t>
            </a:r>
            <a:r>
              <a:rPr lang="en-IN" sz="2400" dirty="0" err="1"/>
              <a:t>dpkt</a:t>
            </a:r>
            <a:r>
              <a:rPr lang="en-IN" sz="2400" dirty="0"/>
              <a:t>) for rapid core parsing.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Processing/Messaging: </a:t>
            </a:r>
            <a:r>
              <a:rPr lang="en-IN" sz="2400" dirty="0" err="1"/>
              <a:t>PySpark</a:t>
            </a:r>
            <a:r>
              <a:rPr lang="en-IN" sz="2400" dirty="0"/>
              <a:t> Streaming / Faust, Kafka / </a:t>
            </a:r>
            <a:r>
              <a:rPr lang="en-IN" sz="2400" dirty="0" err="1"/>
              <a:t>Redpanda</a:t>
            </a:r>
            <a:r>
              <a:rPr lang="en-IN" sz="2400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Inference &amp; State: ONNX Runtime (low-latency ML), Redis / in-memory hash tables.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UI/Frontend: React + </a:t>
            </a:r>
            <a:r>
              <a:rPr lang="en-IN" sz="2400" dirty="0" err="1"/>
              <a:t>WebSockets</a:t>
            </a:r>
            <a:r>
              <a:rPr lang="en-IN" sz="2400" dirty="0"/>
              <a:t> for live telemetry.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Methodology &amp; Flow Pipeline:</a:t>
            </a: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/>
              <a:t>Passive Ingest:</a:t>
            </a:r>
            <a:r>
              <a:rPr lang="en-IN" sz="2400" dirty="0"/>
              <a:t> Reads mirror traffic without opening outbound sockets.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/>
              <a:t>Streaming Flow Aggregator:</a:t>
            </a:r>
            <a:r>
              <a:rPr lang="en-IN" sz="2400" dirty="0"/>
              <a:t> Groups raw bytes via 5-tuple data into 10–60 second sliding windows.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/>
              <a:t>Feature Extractor:</a:t>
            </a:r>
            <a:r>
              <a:rPr lang="en-IN" sz="2400" dirty="0"/>
              <a:t> Vectorizes statistics (e.g., flow rate, IATs, metadata).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/>
              <a:t>Multi-Model Detection:</a:t>
            </a:r>
            <a:r>
              <a:rPr lang="en-IN" sz="2400" dirty="0"/>
              <a:t> Employs AI classes (</a:t>
            </a:r>
            <a:r>
              <a:rPr lang="en-IN" sz="2400" dirty="0" err="1"/>
              <a:t>XGBoost</a:t>
            </a:r>
            <a:r>
              <a:rPr lang="en-IN" sz="2400" dirty="0"/>
              <a:t>, Isolation Forest) and meta-classifiers.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/>
              <a:t>Dashboard &amp; Alerting:</a:t>
            </a:r>
            <a:r>
              <a:rPr lang="en-IN" sz="2400" dirty="0"/>
              <a:t> Produces JSON standard alerts mapped by confidence/severity.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50917A3-87AF-BF1C-FD85-1E894B66B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3587"/>
            <a:ext cx="1738999" cy="77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66700" y="1536174"/>
            <a:ext cx="11763236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Feasibility &amp; Proven Throughput:</a:t>
            </a: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Test constraints met using standard 4-core CPUs—no supercomputers required.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Ingest hit 15k flows/sec, model inference achieved 18k flows/sec.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Challenges vs. Mitigation Strategies:</a:t>
            </a:r>
            <a:endParaRPr lang="en-IN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/>
              <a:t>Risk:</a:t>
            </a:r>
            <a:r>
              <a:rPr lang="en-IN" sz="2400" dirty="0"/>
              <a:t> High rate of False Positives from single threat vectors.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/>
              <a:t>Strategy:</a:t>
            </a:r>
            <a:r>
              <a:rPr lang="en-IN" sz="2400" dirty="0"/>
              <a:t> A unified "Meta-classifier" fuses signals from specialized models, requiring multiple weak signals before triggering an alert.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/>
              <a:t>Risk:</a:t>
            </a:r>
            <a:r>
              <a:rPr lang="en-IN" sz="2400" dirty="0"/>
              <a:t> Missed detections during edge time-windows (Window fragmentation).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/>
              <a:t>Strategy:</a:t>
            </a:r>
            <a:r>
              <a:rPr lang="en-IN" sz="2400" dirty="0"/>
              <a:t> Implementing overlapping 10–60s sliding temporal windows rather than rigid static batches.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/>
              <a:t>Risk:</a:t>
            </a:r>
            <a:r>
              <a:rPr lang="en-IN" sz="2400" dirty="0"/>
              <a:t> Distinguishing threats inside encrypted channels without keys.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i="1" dirty="0"/>
              <a:t>Strategy:</a:t>
            </a:r>
            <a:r>
              <a:rPr lang="en-IN" sz="2400" dirty="0"/>
              <a:t> Train advanced tree models (Random Forest, </a:t>
            </a:r>
            <a:r>
              <a:rPr lang="en-IN" sz="2400" dirty="0" err="1"/>
              <a:t>XGBoost</a:t>
            </a:r>
            <a:r>
              <a:rPr lang="en-IN" sz="2400" dirty="0"/>
              <a:t>) strictly on observable JA3 handshakes and certificate metrics from malware.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6D0727B-68CA-CFB0-BEA4-1540B6B57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3587"/>
            <a:ext cx="1738999" cy="77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33350" y="1278138"/>
            <a:ext cx="11896586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Impact on Target Audience (Security/SOC teams):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Sub-five-second real-time detection telemetry visualized through WebSocket-fed interactive tables.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Alerts include unified structured schemas containing explicit evidence keys, exact severity tiers, and ML confidence levels to streamline incident response.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Solution Benefits: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i="1" dirty="0"/>
              <a:t>Economic Benefit:</a:t>
            </a:r>
            <a:r>
              <a:rPr lang="en-IN" sz="2000" dirty="0"/>
              <a:t> Drastically lowers infrastructure and cloud costs by maximizing capability on basic commodity hardware; intercepts loss conditions before extraction (e.g. ransomware exfil tracking).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i="1" dirty="0"/>
              <a:t>Privacy &amp; Social Benefit:</a:t>
            </a:r>
            <a:r>
              <a:rPr lang="en-IN" sz="2000" dirty="0"/>
              <a:t> Inspects telemetry without accessing Personal Identifiable Information (PII) or decrypting sensitive web/cloud data in-transit.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i="1" dirty="0"/>
              <a:t>Operational Security Benefit:</a:t>
            </a:r>
            <a:r>
              <a:rPr lang="en-IN" sz="2000" dirty="0"/>
              <a:t> An inherent air-gapped integration eliminates the threat of inline-based tool vulnerabilities, effectively making the monitoring node invisible to threat actors.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A6000D2-982E-BDC9-854F-4502C941D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3587"/>
            <a:ext cx="1738999" cy="77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57550" y="1133636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95A85F-DFD2-837D-5EC7-C2D5C41F3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3587"/>
            <a:ext cx="1738999" cy="77904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03CC9A-3823-130E-7055-2219B442FE34}"/>
              </a:ext>
            </a:extLst>
          </p:cNvPr>
          <p:cNvSpPr txBox="1"/>
          <p:nvPr/>
        </p:nvSpPr>
        <p:spPr>
          <a:xfrm>
            <a:off x="329773" y="1999264"/>
            <a:ext cx="1170016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Key Research Areas &amp; Sources: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Volumetric Threats &amp; DDoS </a:t>
            </a:r>
            <a:r>
              <a:rPr lang="en-IN" sz="2000" b="1" dirty="0" err="1"/>
              <a:t>Modeling</a:t>
            </a:r>
            <a:r>
              <a:rPr lang="en-IN" sz="2000" b="1" dirty="0"/>
              <a:t>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CIC-DDoS2019, UNSW-NB15, DARPA 2000 (Synthetic/Labelled network attack mixes).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Botnet C2 &amp; Beaconing Analysis: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CTU-13, Stratosphere IPS captures, MCFP.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Domain Generation Algorithms (DGA) &amp; DNS Tunnelling: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 err="1"/>
              <a:t>DGArchive</a:t>
            </a:r>
            <a:r>
              <a:rPr lang="en-IN" sz="2000" dirty="0"/>
              <a:t>, Bambenek threat feeds, </a:t>
            </a:r>
            <a:r>
              <a:rPr lang="en-IN" sz="2000" dirty="0" err="1"/>
              <a:t>Cryptolocker</a:t>
            </a:r>
            <a:r>
              <a:rPr lang="en-IN" sz="2000" dirty="0"/>
              <a:t> datasets, Alexa Top 1M (Benign baseline).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Encrypted Payload Malware Detection: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CIC-IDS-2017 (Encrypted subset), MTA-TLS dataset, Abuse.ch SSLBL.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Cryptographic Traffic Fingerprinting:</a:t>
            </a:r>
            <a:endParaRPr lang="en-IN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JA3, JA3S, and JA4 Metadata Standards (TLS Handshake classification).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7699</TotalTime>
  <Words>716</Words>
  <Application>Microsoft Office PowerPoint</Application>
  <PresentationFormat>Widescreen</PresentationFormat>
  <Paragraphs>78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UTKARSH TAYAL</cp:lastModifiedBy>
  <cp:revision>152</cp:revision>
  <dcterms:created xsi:type="dcterms:W3CDTF">2013-12-12T18:46:50Z</dcterms:created>
  <dcterms:modified xsi:type="dcterms:W3CDTF">2026-09-08T05:34:32Z</dcterms:modified>
  <cp:category/>
</cp:coreProperties>
</file>